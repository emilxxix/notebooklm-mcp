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31720"/>
          </a:xfrm>
          <a:prstGeom prst="rect">
            <a:avLst/>
          </a:prstGeom>
          <a:solidFill>
            <a:srgbClr val="333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286000"/>
            <a:ext cx="12191695" cy="73152"/>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a:solidFill>
                  <a:srgbClr val="EB0A1E"/>
                </a:solidFill>
                <a:latin typeface="Calibri"/>
              </a:rPr>
              <a:t>MARKLINES DATA BRIEF  ·  JUNE 2026</a:t>
            </a:r>
          </a:p>
        </p:txBody>
      </p:sp>
      <p:sp>
        <p:nvSpPr>
          <p:cNvPr id="6" name="TextBox 5"/>
          <p:cNvSpPr txBox="1"/>
          <p:nvPr/>
        </p:nvSpPr>
        <p:spPr>
          <a:xfrm>
            <a:off x="640080" y="868680"/>
            <a:ext cx="10972800" cy="914400"/>
          </a:xfrm>
          <a:prstGeom prst="rect">
            <a:avLst/>
          </a:prstGeom>
          <a:noFill/>
        </p:spPr>
        <p:txBody>
          <a:bodyPr wrap="square" anchor="t" lIns="0" rIns="0" tIns="0" bIns="0">
            <a:spAutoFit/>
          </a:bodyPr>
          <a:lstStyle/>
          <a:p>
            <a:pPr algn="l">
              <a:lnSpc>
                <a:spcPct val="100000"/>
              </a:lnSpc>
              <a:spcBef>
                <a:spcPts val="0"/>
              </a:spcBef>
              <a:spcAft>
                <a:spcPts val="400"/>
              </a:spcAft>
            </a:pPr>
            <a:r>
              <a:rPr sz="4000" b="1">
                <a:solidFill>
                  <a:srgbClr val="FFFFFF"/>
                </a:solidFill>
                <a:latin typeface="Calibri"/>
              </a:rPr>
              <a:t>Toyota Hilux </a:t>
            </a:r>
            <a:r>
              <a:rPr sz="4000" b="1">
                <a:solidFill>
                  <a:srgbClr val="EB0A1E"/>
                </a:solidFill>
                <a:latin typeface="Calibri"/>
              </a:rPr>
              <a:t>“Travo”</a:t>
            </a:r>
            <a:r>
              <a:rPr sz="4000" b="1">
                <a:solidFill>
                  <a:srgbClr val="FFFFFF"/>
                </a:solidFill>
                <a:latin typeface="Calibri"/>
              </a:rPr>
              <a:t> Family</a:t>
            </a:r>
          </a:p>
        </p:txBody>
      </p:sp>
      <p:sp>
        <p:nvSpPr>
          <p:cNvPr id="7" name="TextBox 6"/>
          <p:cNvSpPr txBox="1"/>
          <p:nvPr/>
        </p:nvSpPr>
        <p:spPr>
          <a:xfrm>
            <a:off x="640080" y="1627632"/>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600" b="0">
                <a:solidFill>
                  <a:srgbClr val="CFD4DB"/>
                </a:solidFill>
                <a:latin typeface="Calibri"/>
              </a:rPr>
              <a:t>9th-Generation Hilux  ·  Diesel (Travo) &amp; Battery-Electric (Travo-e)</a:t>
            </a:r>
          </a:p>
        </p:txBody>
      </p:sp>
      <p:sp>
        <p:nvSpPr>
          <p:cNvPr id="8" name="Rectangle 7"/>
          <p:cNvSpPr/>
          <p:nvPr/>
        </p:nvSpPr>
        <p:spPr>
          <a:xfrm>
            <a:off x="640080" y="2697480"/>
            <a:ext cx="10908792" cy="1417320"/>
          </a:xfrm>
          <a:prstGeom prst="rect">
            <a:avLst/>
          </a:prstGeom>
          <a:solidFill>
            <a:srgbClr val="25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697480"/>
            <a:ext cx="109728" cy="1417320"/>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52928"/>
            <a:ext cx="1042416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EB0A1E"/>
                </a:solidFill>
                <a:latin typeface="Calibri"/>
              </a:rPr>
              <a:t>BOTTOM LINE UP FRONT</a:t>
            </a:r>
          </a:p>
        </p:txBody>
      </p:sp>
      <p:sp>
        <p:nvSpPr>
          <p:cNvPr id="11" name="TextBox 10"/>
          <p:cNvSpPr txBox="1"/>
          <p:nvPr/>
        </p:nvSpPr>
        <p:spPr>
          <a:xfrm>
            <a:off x="914400" y="3154680"/>
            <a:ext cx="10424160" cy="914400"/>
          </a:xfrm>
          <a:prstGeom prst="rect">
            <a:avLst/>
          </a:prstGeom>
          <a:noFill/>
        </p:spPr>
        <p:txBody>
          <a:bodyPr wrap="square" anchor="t" lIns="0" rIns="0" tIns="0" bIns="0">
            <a:spAutoFit/>
          </a:bodyPr>
          <a:lstStyle/>
          <a:p>
            <a:pPr algn="l">
              <a:lnSpc>
                <a:spcPct val="110000"/>
              </a:lnSpc>
              <a:spcBef>
                <a:spcPts val="0"/>
              </a:spcBef>
              <a:spcAft>
                <a:spcPts val="400"/>
              </a:spcAft>
            </a:pPr>
            <a:r>
              <a:rPr sz="1400" b="0">
                <a:solidFill>
                  <a:srgbClr val="FFFFFF"/>
                </a:solidFill>
                <a:latin typeface="Calibri"/>
              </a:rPr>
              <a:t>Toyota launched </a:t>
            </a:r>
            <a:r>
              <a:rPr sz="1400" b="1">
                <a:solidFill>
                  <a:srgbClr val="FFFFFF"/>
                </a:solidFill>
                <a:latin typeface="Calibri"/>
              </a:rPr>
              <a:t>two models</a:t>
            </a:r>
            <a:r>
              <a:rPr sz="1400" b="0">
                <a:solidFill>
                  <a:srgbClr val="FFFFFF"/>
                </a:solidFill>
                <a:latin typeface="Calibri"/>
              </a:rPr>
              <a:t> under the Travo badge — the </a:t>
            </a:r>
            <a:r>
              <a:rPr sz="1400" b="1">
                <a:solidFill>
                  <a:srgbClr val="FFFFFF"/>
                </a:solidFill>
                <a:latin typeface="Calibri"/>
              </a:rPr>
              <a:t>Travo diesel (ICE)</a:t>
            </a:r>
            <a:r>
              <a:rPr sz="1400" b="0">
                <a:solidFill>
                  <a:srgbClr val="FFFFFF"/>
                </a:solidFill>
                <a:latin typeface="Calibri"/>
              </a:rPr>
              <a:t> and the all-electric </a:t>
            </a:r>
            <a:r>
              <a:rPr sz="1400" b="1">
                <a:solidFill>
                  <a:srgbClr val="FFFFFF"/>
                </a:solidFill>
                <a:latin typeface="Calibri"/>
              </a:rPr>
              <a:t>Travo-e (BEV)</a:t>
            </a:r>
            <a:r>
              <a:rPr sz="1400" b="0">
                <a:solidFill>
                  <a:srgbClr val="FFFFFF"/>
                </a:solidFill>
                <a:latin typeface="Calibri"/>
              </a:rPr>
              <a:t>. In MarkLines sales statistics both are </a:t>
            </a:r>
            <a:r>
              <a:rPr sz="1400" b="1">
                <a:solidFill>
                  <a:srgbClr val="FFB3BA"/>
                </a:solidFill>
                <a:latin typeface="Calibri"/>
              </a:rPr>
              <a:t>aggregated under “Hilux” and cannot be split at model level</a:t>
            </a:r>
            <a:r>
              <a:rPr sz="1400" b="0">
                <a:solidFill>
                  <a:srgbClr val="FFFFFF"/>
                </a:solidFill>
                <a:latin typeface="Calibri"/>
              </a:rPr>
              <a:t>; they are distinguished here by powertrain, body style and launch timeline.</a:t>
            </a:r>
          </a:p>
        </p:txBody>
      </p:sp>
      <p:sp>
        <p:nvSpPr>
          <p:cNvPr id="12" name="Rectangle 11"/>
          <p:cNvSpPr/>
          <p:nvPr/>
        </p:nvSpPr>
        <p:spPr>
          <a:xfrm>
            <a:off x="640080" y="4434840"/>
            <a:ext cx="3511296" cy="1508760"/>
          </a:xfrm>
          <a:prstGeom prst="rect">
            <a:avLst/>
          </a:prstGeom>
          <a:solidFill>
            <a:srgbClr val="2E3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434840"/>
            <a:ext cx="3511296" cy="91440"/>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63440"/>
            <a:ext cx="3511296" cy="685800"/>
          </a:xfrm>
          <a:prstGeom prst="rect">
            <a:avLst/>
          </a:prstGeom>
          <a:noFill/>
        </p:spPr>
        <p:txBody>
          <a:bodyPr wrap="square" anchor="ctr" lIns="0" rIns="0" tIns="0" bIns="0">
            <a:spAutoFit/>
          </a:bodyPr>
          <a:lstStyle/>
          <a:p>
            <a:pPr algn="ctr">
              <a:lnSpc>
                <a:spcPct val="100000"/>
              </a:lnSpc>
              <a:spcBef>
                <a:spcPts val="0"/>
              </a:spcBef>
              <a:spcAft>
                <a:spcPts val="400"/>
              </a:spcAft>
            </a:pPr>
            <a:r>
              <a:rPr sz="3400" b="1">
                <a:solidFill>
                  <a:srgbClr val="FFFFFF"/>
                </a:solidFill>
                <a:latin typeface="Calibri"/>
              </a:rPr>
              <a:t>2</a:t>
            </a:r>
          </a:p>
        </p:txBody>
      </p:sp>
      <p:sp>
        <p:nvSpPr>
          <p:cNvPr id="15" name="TextBox 14"/>
          <p:cNvSpPr txBox="1"/>
          <p:nvPr/>
        </p:nvSpPr>
        <p:spPr>
          <a:xfrm>
            <a:off x="640080" y="5349240"/>
            <a:ext cx="3511296" cy="548640"/>
          </a:xfrm>
          <a:prstGeom prst="rect">
            <a:avLst/>
          </a:prstGeom>
          <a:noFill/>
        </p:spPr>
        <p:txBody>
          <a:bodyPr wrap="square" anchor="t" lIns="0" rIns="0" tIns="0" bIns="0">
            <a:spAutoFit/>
          </a:bodyPr>
          <a:lstStyle/>
          <a:p>
            <a:pPr algn="ctr">
              <a:lnSpc>
                <a:spcPct val="100000"/>
              </a:lnSpc>
              <a:spcBef>
                <a:spcPts val="0"/>
              </a:spcBef>
              <a:spcAft>
                <a:spcPts val="0"/>
              </a:spcAft>
            </a:pPr>
            <a:r>
              <a:rPr sz="1200" b="0">
                <a:solidFill>
                  <a:srgbClr val="C2C8D0"/>
                </a:solidFill>
                <a:latin typeface="Calibri"/>
              </a:rPr>
              <a:t>models under the</a:t>
            </a:r>
          </a:p>
          <a:p>
            <a:pPr algn="ctr">
              <a:lnSpc>
                <a:spcPct val="100000"/>
              </a:lnSpc>
              <a:spcBef>
                <a:spcPts val="0"/>
              </a:spcBef>
              <a:spcAft>
                <a:spcPts val="0"/>
              </a:spcAft>
            </a:pPr>
            <a:r>
              <a:rPr sz="1200" b="0">
                <a:solidFill>
                  <a:srgbClr val="C2C8D0"/>
                </a:solidFill>
                <a:latin typeface="Calibri"/>
              </a:rPr>
              <a:t>Travo badge</a:t>
            </a:r>
          </a:p>
        </p:txBody>
      </p:sp>
      <p:sp>
        <p:nvSpPr>
          <p:cNvPr id="16" name="Rectangle 15"/>
          <p:cNvSpPr/>
          <p:nvPr/>
        </p:nvSpPr>
        <p:spPr>
          <a:xfrm>
            <a:off x="4338828" y="4434840"/>
            <a:ext cx="3511296" cy="1508760"/>
          </a:xfrm>
          <a:prstGeom prst="rect">
            <a:avLst/>
          </a:prstGeom>
          <a:solidFill>
            <a:srgbClr val="2E3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8828" y="4434840"/>
            <a:ext cx="3511296" cy="914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38828" y="4663440"/>
            <a:ext cx="3511296" cy="685800"/>
          </a:xfrm>
          <a:prstGeom prst="rect">
            <a:avLst/>
          </a:prstGeom>
          <a:noFill/>
        </p:spPr>
        <p:txBody>
          <a:bodyPr wrap="square" anchor="ctr" lIns="0" rIns="0" tIns="0" bIns="0">
            <a:spAutoFit/>
          </a:bodyPr>
          <a:lstStyle/>
          <a:p>
            <a:pPr algn="ctr">
              <a:lnSpc>
                <a:spcPct val="100000"/>
              </a:lnSpc>
              <a:spcBef>
                <a:spcPts val="0"/>
              </a:spcBef>
              <a:spcAft>
                <a:spcPts val="400"/>
              </a:spcAft>
            </a:pPr>
            <a:r>
              <a:rPr sz="3400" b="1">
                <a:solidFill>
                  <a:srgbClr val="FFFFFF"/>
                </a:solidFill>
                <a:latin typeface="Calibri"/>
              </a:rPr>
              <a:t>Dec 2025</a:t>
            </a:r>
          </a:p>
        </p:txBody>
      </p:sp>
      <p:sp>
        <p:nvSpPr>
          <p:cNvPr id="19" name="TextBox 18"/>
          <p:cNvSpPr txBox="1"/>
          <p:nvPr/>
        </p:nvSpPr>
        <p:spPr>
          <a:xfrm>
            <a:off x="4338828" y="5349240"/>
            <a:ext cx="3511296" cy="548640"/>
          </a:xfrm>
          <a:prstGeom prst="rect">
            <a:avLst/>
          </a:prstGeom>
          <a:noFill/>
        </p:spPr>
        <p:txBody>
          <a:bodyPr wrap="square" anchor="t" lIns="0" rIns="0" tIns="0" bIns="0">
            <a:spAutoFit/>
          </a:bodyPr>
          <a:lstStyle/>
          <a:p>
            <a:pPr algn="ctr">
              <a:lnSpc>
                <a:spcPct val="100000"/>
              </a:lnSpc>
              <a:spcBef>
                <a:spcPts val="0"/>
              </a:spcBef>
              <a:spcAft>
                <a:spcPts val="0"/>
              </a:spcAft>
            </a:pPr>
            <a:r>
              <a:rPr sz="1200" b="0">
                <a:solidFill>
                  <a:srgbClr val="C2C8D0"/>
                </a:solidFill>
                <a:latin typeface="Calibri"/>
              </a:rPr>
              <a:t>Travo diesel launched</a:t>
            </a:r>
          </a:p>
          <a:p>
            <a:pPr algn="ctr">
              <a:lnSpc>
                <a:spcPct val="100000"/>
              </a:lnSpc>
              <a:spcBef>
                <a:spcPts val="0"/>
              </a:spcBef>
              <a:spcAft>
                <a:spcPts val="0"/>
              </a:spcAft>
            </a:pPr>
            <a:r>
              <a:rPr sz="1200" b="0">
                <a:solidFill>
                  <a:srgbClr val="C2C8D0"/>
                </a:solidFill>
                <a:latin typeface="Calibri"/>
              </a:rPr>
              <a:t>in Thailand</a:t>
            </a:r>
          </a:p>
        </p:txBody>
      </p:sp>
      <p:sp>
        <p:nvSpPr>
          <p:cNvPr id="20" name="Rectangle 19"/>
          <p:cNvSpPr/>
          <p:nvPr/>
        </p:nvSpPr>
        <p:spPr>
          <a:xfrm>
            <a:off x="8037576" y="4434840"/>
            <a:ext cx="3511296" cy="1508760"/>
          </a:xfrm>
          <a:prstGeom prst="rect">
            <a:avLst/>
          </a:prstGeom>
          <a:solidFill>
            <a:srgbClr val="2E3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37576" y="4434840"/>
            <a:ext cx="3511296" cy="91440"/>
          </a:xfrm>
          <a:prstGeom prst="rect">
            <a:avLst/>
          </a:prstGeom>
          <a:solidFill>
            <a:srgbClr val="0F8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37576" y="4663440"/>
            <a:ext cx="3511296" cy="685800"/>
          </a:xfrm>
          <a:prstGeom prst="rect">
            <a:avLst/>
          </a:prstGeom>
          <a:noFill/>
        </p:spPr>
        <p:txBody>
          <a:bodyPr wrap="square" anchor="ctr" lIns="0" rIns="0" tIns="0" bIns="0">
            <a:spAutoFit/>
          </a:bodyPr>
          <a:lstStyle/>
          <a:p>
            <a:pPr algn="ctr">
              <a:lnSpc>
                <a:spcPct val="100000"/>
              </a:lnSpc>
              <a:spcBef>
                <a:spcPts val="0"/>
              </a:spcBef>
              <a:spcAft>
                <a:spcPts val="400"/>
              </a:spcAft>
            </a:pPr>
            <a:r>
              <a:rPr sz="3400" b="1">
                <a:solidFill>
                  <a:srgbClr val="FFFFFF"/>
                </a:solidFill>
                <a:latin typeface="Calibri"/>
              </a:rPr>
              <a:t>Mar 2026</a:t>
            </a:r>
          </a:p>
        </p:txBody>
      </p:sp>
      <p:sp>
        <p:nvSpPr>
          <p:cNvPr id="23" name="TextBox 22"/>
          <p:cNvSpPr txBox="1"/>
          <p:nvPr/>
        </p:nvSpPr>
        <p:spPr>
          <a:xfrm>
            <a:off x="8037576" y="5349240"/>
            <a:ext cx="3511296" cy="548640"/>
          </a:xfrm>
          <a:prstGeom prst="rect">
            <a:avLst/>
          </a:prstGeom>
          <a:noFill/>
        </p:spPr>
        <p:txBody>
          <a:bodyPr wrap="square" anchor="t" lIns="0" rIns="0" tIns="0" bIns="0">
            <a:spAutoFit/>
          </a:bodyPr>
          <a:lstStyle/>
          <a:p>
            <a:pPr algn="ctr">
              <a:lnSpc>
                <a:spcPct val="100000"/>
              </a:lnSpc>
              <a:spcBef>
                <a:spcPts val="0"/>
              </a:spcBef>
              <a:spcAft>
                <a:spcPts val="0"/>
              </a:spcAft>
            </a:pPr>
            <a:r>
              <a:rPr sz="1200" b="0">
                <a:solidFill>
                  <a:srgbClr val="C2C8D0"/>
                </a:solidFill>
                <a:latin typeface="Calibri"/>
              </a:rPr>
              <a:t>Travo-e BEV launched;</a:t>
            </a:r>
          </a:p>
          <a:p>
            <a:pPr algn="ctr">
              <a:lnSpc>
                <a:spcPct val="100000"/>
              </a:lnSpc>
              <a:spcBef>
                <a:spcPts val="0"/>
              </a:spcBef>
              <a:spcAft>
                <a:spcPts val="0"/>
              </a:spcAft>
            </a:pPr>
            <a:r>
              <a:rPr sz="1200" b="0">
                <a:solidFill>
                  <a:srgbClr val="C2C8D0"/>
                </a:solidFill>
                <a:latin typeface="Calibri"/>
              </a:rPr>
              <a:t>Europe from Apr 2026</a:t>
            </a:r>
          </a:p>
        </p:txBody>
      </p:sp>
      <p:sp>
        <p:nvSpPr>
          <p:cNvPr id="24" name="Rectangle 23"/>
          <p:cNvSpPr/>
          <p:nvPr/>
        </p:nvSpPr>
        <p:spPr>
          <a:xfrm>
            <a:off x="0" y="6565392"/>
            <a:ext cx="12191695" cy="2926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574536"/>
            <a:ext cx="8229600" cy="274320"/>
          </a:xfrm>
          <a:prstGeom prst="rect">
            <a:avLst/>
          </a:prstGeom>
          <a:noFill/>
        </p:spPr>
        <p:txBody>
          <a:bodyPr wrap="square" anchor="ctr" lIns="0" rIns="0" tIns="0" bIns="0">
            <a:spAutoFit/>
          </a:bodyPr>
          <a:lstStyle/>
          <a:p>
            <a:pPr algn="l">
              <a:lnSpc>
                <a:spcPct val="100000"/>
              </a:lnSpc>
              <a:spcBef>
                <a:spcPts val="0"/>
              </a:spcBef>
              <a:spcAft>
                <a:spcPts val="400"/>
              </a:spcAft>
            </a:pPr>
            <a:r>
              <a:rPr sz="800" b="0">
                <a:solidFill>
                  <a:srgbClr val="FFFFFF"/>
                </a:solidFill>
                <a:latin typeface="Calibri"/>
              </a:rPr>
              <a:t>Source: MarkLines Automotive Sales Data  |  Toyota Hilux 'Travo' Brief</a:t>
            </a:r>
          </a:p>
        </p:txBody>
      </p:sp>
      <p:sp>
        <p:nvSpPr>
          <p:cNvPr id="26" name="TextBox 25"/>
          <p:cNvSpPr txBox="1"/>
          <p:nvPr/>
        </p:nvSpPr>
        <p:spPr>
          <a:xfrm>
            <a:off x="10820095" y="6574536"/>
            <a:ext cx="914400" cy="274320"/>
          </a:xfrm>
          <a:prstGeom prst="rect">
            <a:avLst/>
          </a:prstGeom>
          <a:noFill/>
        </p:spPr>
        <p:txBody>
          <a:bodyPr wrap="square" anchor="ctr" lIns="0" rIns="0" tIns="0" bIns="0">
            <a:spAutoFit/>
          </a:bodyPr>
          <a:lstStyle/>
          <a:p>
            <a:pPr algn="r">
              <a:lnSpc>
                <a:spcPct val="100000"/>
              </a:lnSpc>
              <a:spcBef>
                <a:spcPts val="0"/>
              </a:spcBef>
              <a:spcAft>
                <a:spcPts val="400"/>
              </a:spcAft>
            </a:pPr>
            <a:r>
              <a:rPr sz="800" b="1">
                <a:solidFill>
                  <a:srgbClr val="FFFFFF"/>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1051560"/>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12471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EB0A1E"/>
                </a:solidFill>
                <a:latin typeface="Calibri"/>
              </a:rPr>
              <a:t>THE TWO MODELS</a:t>
            </a:r>
          </a:p>
        </p:txBody>
      </p:sp>
      <p:sp>
        <p:nvSpPr>
          <p:cNvPr id="6" name="TextBox 5"/>
          <p:cNvSpPr txBox="1"/>
          <p:nvPr/>
        </p:nvSpPr>
        <p:spPr>
          <a:xfrm>
            <a:off x="457200" y="420624"/>
            <a:ext cx="11247120" cy="548640"/>
          </a:xfrm>
          <a:prstGeom prst="rect">
            <a:avLst/>
          </a:prstGeom>
          <a:noFill/>
        </p:spPr>
        <p:txBody>
          <a:bodyPr wrap="square" anchor="t" lIns="0" rIns="0" tIns="0" bIns="0">
            <a:spAutoFit/>
          </a:bodyPr>
          <a:lstStyle/>
          <a:p>
            <a:pPr algn="l">
              <a:lnSpc>
                <a:spcPct val="100000"/>
              </a:lnSpc>
              <a:spcBef>
                <a:spcPts val="0"/>
              </a:spcBef>
              <a:spcAft>
                <a:spcPts val="400"/>
              </a:spcAft>
            </a:pPr>
            <a:r>
              <a:rPr sz="2600" b="1">
                <a:solidFill>
                  <a:srgbClr val="1A1A1A"/>
                </a:solidFill>
                <a:latin typeface="Calibri"/>
              </a:rPr>
              <a:t>Travo (Diesel) vs. Travo-e (BEV) — Specifications</a:t>
            </a:r>
          </a:p>
        </p:txBody>
      </p:sp>
      <p:sp>
        <p:nvSpPr>
          <p:cNvPr id="7" name="Rectangle 6"/>
          <p:cNvSpPr/>
          <p:nvPr/>
        </p:nvSpPr>
        <p:spPr>
          <a:xfrm>
            <a:off x="457200" y="987552"/>
            <a:ext cx="11274552" cy="1905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5486400" cy="4983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25880"/>
            <a:ext cx="5486400" cy="6400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99032"/>
            <a:ext cx="5486400" cy="548640"/>
          </a:xfrm>
          <a:prstGeom prst="rect">
            <a:avLst/>
          </a:prstGeom>
          <a:noFill/>
        </p:spPr>
        <p:txBody>
          <a:bodyPr wrap="square" anchor="t" lIns="0" rIns="0" tIns="0" bIns="0">
            <a:spAutoFit/>
          </a:bodyPr>
          <a:lstStyle/>
          <a:p>
            <a:pPr algn="l">
              <a:lnSpc>
                <a:spcPct val="100000"/>
              </a:lnSpc>
              <a:spcBef>
                <a:spcPts val="0"/>
              </a:spcBef>
              <a:spcAft>
                <a:spcPts val="0"/>
              </a:spcAft>
            </a:pPr>
            <a:r>
              <a:rPr sz="1800" b="1">
                <a:solidFill>
                  <a:srgbClr val="FFFFFF"/>
                </a:solidFill>
                <a:latin typeface="Calibri"/>
              </a:rPr>
              <a:t>Hilux Travo</a:t>
            </a:r>
          </a:p>
          <a:p>
            <a:pPr algn="l">
              <a:lnSpc>
                <a:spcPct val="100000"/>
              </a:lnSpc>
              <a:spcBef>
                <a:spcPts val="0"/>
              </a:spcBef>
              <a:spcAft>
                <a:spcPts val="0"/>
              </a:spcAft>
            </a:pPr>
            <a:r>
              <a:rPr sz="1100" b="0">
                <a:solidFill>
                  <a:srgbClr val="CFDDEC"/>
                </a:solidFill>
                <a:latin typeface="Calibri"/>
              </a:rPr>
              <a:t>Diesel  ·  Internal Combustion</a:t>
            </a:r>
          </a:p>
        </p:txBody>
      </p:sp>
      <p:sp>
        <p:nvSpPr>
          <p:cNvPr id="11" name="Rectangle 10"/>
          <p:cNvSpPr/>
          <p:nvPr/>
        </p:nvSpPr>
        <p:spPr>
          <a:xfrm>
            <a:off x="6245352" y="1325880"/>
            <a:ext cx="5486400" cy="4983480"/>
          </a:xfrm>
          <a:prstGeom prst="rect">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325880"/>
            <a:ext cx="5486400" cy="640080"/>
          </a:xfrm>
          <a:prstGeom prst="rect">
            <a:avLst/>
          </a:prstGeom>
          <a:solidFill>
            <a:srgbClr val="0F8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399032"/>
            <a:ext cx="5486400" cy="548640"/>
          </a:xfrm>
          <a:prstGeom prst="rect">
            <a:avLst/>
          </a:prstGeom>
          <a:noFill/>
        </p:spPr>
        <p:txBody>
          <a:bodyPr wrap="square" anchor="t" lIns="0" rIns="0" tIns="0" bIns="0">
            <a:spAutoFit/>
          </a:bodyPr>
          <a:lstStyle/>
          <a:p>
            <a:pPr algn="l">
              <a:lnSpc>
                <a:spcPct val="100000"/>
              </a:lnSpc>
              <a:spcBef>
                <a:spcPts val="0"/>
              </a:spcBef>
              <a:spcAft>
                <a:spcPts val="0"/>
              </a:spcAft>
            </a:pPr>
            <a:r>
              <a:rPr sz="1800" b="1">
                <a:solidFill>
                  <a:srgbClr val="FFFFFF"/>
                </a:solidFill>
                <a:latin typeface="Calibri"/>
              </a:rPr>
              <a:t>Hilux Travo-e</a:t>
            </a:r>
          </a:p>
          <a:p>
            <a:pPr algn="l">
              <a:lnSpc>
                <a:spcPct val="100000"/>
              </a:lnSpc>
              <a:spcBef>
                <a:spcPts val="0"/>
              </a:spcBef>
              <a:spcAft>
                <a:spcPts val="0"/>
              </a:spcAft>
            </a:pPr>
            <a:r>
              <a:rPr sz="1100" b="0">
                <a:solidFill>
                  <a:srgbClr val="D6F0E2"/>
                </a:solidFill>
                <a:latin typeface="Calibri"/>
              </a:rPr>
              <a:t>Battery-Electric  ·  First body-on-frame EV Hilux</a:t>
            </a:r>
          </a:p>
        </p:txBody>
      </p:sp>
      <p:sp>
        <p:nvSpPr>
          <p:cNvPr id="14" name="TextBox 13"/>
          <p:cNvSpPr txBox="1"/>
          <p:nvPr/>
        </p:nvSpPr>
        <p:spPr>
          <a:xfrm>
            <a:off x="640080" y="2103120"/>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Powertrain</a:t>
            </a:r>
          </a:p>
        </p:txBody>
      </p:sp>
      <p:sp>
        <p:nvSpPr>
          <p:cNvPr id="15" name="TextBox 14"/>
          <p:cNvSpPr txBox="1"/>
          <p:nvPr/>
        </p:nvSpPr>
        <p:spPr>
          <a:xfrm>
            <a:off x="2148840" y="2103120"/>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2.8L GD Super Power turbo-diesel</a:t>
            </a:r>
          </a:p>
          <a:p>
            <a:pPr algn="l">
              <a:lnSpc>
                <a:spcPct val="95000"/>
              </a:lnSpc>
              <a:spcBef>
                <a:spcPts val="0"/>
              </a:spcBef>
              <a:spcAft>
                <a:spcPts val="0"/>
              </a:spcAft>
            </a:pPr>
            <a:r>
              <a:rPr sz="1050" b="0">
                <a:solidFill>
                  <a:srgbClr val="333A45"/>
                </a:solidFill>
                <a:latin typeface="Calibri"/>
              </a:rPr>
              <a:t>(+7.5% fuel efficiency)</a:t>
            </a:r>
          </a:p>
        </p:txBody>
      </p:sp>
      <p:sp>
        <p:nvSpPr>
          <p:cNvPr id="16" name="TextBox 15"/>
          <p:cNvSpPr txBox="1"/>
          <p:nvPr/>
        </p:nvSpPr>
        <p:spPr>
          <a:xfrm>
            <a:off x="6428232" y="2103120"/>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Powertrain</a:t>
            </a:r>
          </a:p>
        </p:txBody>
      </p:sp>
      <p:sp>
        <p:nvSpPr>
          <p:cNvPr id="17" name="TextBox 16"/>
          <p:cNvSpPr txBox="1"/>
          <p:nvPr/>
        </p:nvSpPr>
        <p:spPr>
          <a:xfrm>
            <a:off x="7936992" y="2103120"/>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Dual-motor electric AWD (eAxle)</a:t>
            </a:r>
          </a:p>
        </p:txBody>
      </p:sp>
      <p:sp>
        <p:nvSpPr>
          <p:cNvPr id="18" name="Rectangle 17"/>
          <p:cNvSpPr/>
          <p:nvPr/>
        </p:nvSpPr>
        <p:spPr>
          <a:xfrm>
            <a:off x="457200" y="2551176"/>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2551176"/>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551176"/>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Output</a:t>
            </a:r>
          </a:p>
        </p:txBody>
      </p:sp>
      <p:sp>
        <p:nvSpPr>
          <p:cNvPr id="21" name="TextBox 20"/>
          <p:cNvSpPr txBox="1"/>
          <p:nvPr/>
        </p:nvSpPr>
        <p:spPr>
          <a:xfrm>
            <a:off x="2148840" y="2551176"/>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High-torque 4-cylinder</a:t>
            </a:r>
          </a:p>
        </p:txBody>
      </p:sp>
      <p:sp>
        <p:nvSpPr>
          <p:cNvPr id="22" name="TextBox 21"/>
          <p:cNvSpPr txBox="1"/>
          <p:nvPr/>
        </p:nvSpPr>
        <p:spPr>
          <a:xfrm>
            <a:off x="6428232" y="2551176"/>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Output</a:t>
            </a:r>
          </a:p>
        </p:txBody>
      </p:sp>
      <p:sp>
        <p:nvSpPr>
          <p:cNvPr id="23" name="TextBox 22"/>
          <p:cNvSpPr txBox="1"/>
          <p:nvPr/>
        </p:nvSpPr>
        <p:spPr>
          <a:xfrm>
            <a:off x="7936992" y="2551176"/>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196 hp / 144 kW combined</a:t>
            </a:r>
          </a:p>
        </p:txBody>
      </p:sp>
      <p:sp>
        <p:nvSpPr>
          <p:cNvPr id="24" name="TextBox 23"/>
          <p:cNvSpPr txBox="1"/>
          <p:nvPr/>
        </p:nvSpPr>
        <p:spPr>
          <a:xfrm>
            <a:off x="640080" y="2999232"/>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Energy storage</a:t>
            </a:r>
          </a:p>
        </p:txBody>
      </p:sp>
      <p:sp>
        <p:nvSpPr>
          <p:cNvPr id="25" name="TextBox 24"/>
          <p:cNvSpPr txBox="1"/>
          <p:nvPr/>
        </p:nvSpPr>
        <p:spPr>
          <a:xfrm>
            <a:off x="2148840" y="2999232"/>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Diesel fuel tank</a:t>
            </a:r>
          </a:p>
        </p:txBody>
      </p:sp>
      <p:sp>
        <p:nvSpPr>
          <p:cNvPr id="26" name="TextBox 25"/>
          <p:cNvSpPr txBox="1"/>
          <p:nvPr/>
        </p:nvSpPr>
        <p:spPr>
          <a:xfrm>
            <a:off x="6428232" y="2999232"/>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Energy storage</a:t>
            </a:r>
          </a:p>
        </p:txBody>
      </p:sp>
      <p:sp>
        <p:nvSpPr>
          <p:cNvPr id="27" name="TextBox 26"/>
          <p:cNvSpPr txBox="1"/>
          <p:nvPr/>
        </p:nvSpPr>
        <p:spPr>
          <a:xfrm>
            <a:off x="7936992" y="2999232"/>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59.2 kWh Li-ion, 296V</a:t>
            </a:r>
          </a:p>
        </p:txBody>
      </p:sp>
      <p:sp>
        <p:nvSpPr>
          <p:cNvPr id="28" name="Rectangle 27"/>
          <p:cNvSpPr/>
          <p:nvPr/>
        </p:nvSpPr>
        <p:spPr>
          <a:xfrm>
            <a:off x="457200" y="3447288"/>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3447288"/>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447288"/>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Range</a:t>
            </a:r>
          </a:p>
        </p:txBody>
      </p:sp>
      <p:sp>
        <p:nvSpPr>
          <p:cNvPr id="31" name="TextBox 30"/>
          <p:cNvSpPr txBox="1"/>
          <p:nvPr/>
        </p:nvSpPr>
        <p:spPr>
          <a:xfrm>
            <a:off x="2148840" y="3447288"/>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 (ICE)</a:t>
            </a:r>
          </a:p>
        </p:txBody>
      </p:sp>
      <p:sp>
        <p:nvSpPr>
          <p:cNvPr id="32" name="TextBox 31"/>
          <p:cNvSpPr txBox="1"/>
          <p:nvPr/>
        </p:nvSpPr>
        <p:spPr>
          <a:xfrm>
            <a:off x="6428232" y="3447288"/>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Range</a:t>
            </a:r>
          </a:p>
        </p:txBody>
      </p:sp>
      <p:sp>
        <p:nvSpPr>
          <p:cNvPr id="33" name="TextBox 32"/>
          <p:cNvSpPr txBox="1"/>
          <p:nvPr/>
        </p:nvSpPr>
        <p:spPr>
          <a:xfrm>
            <a:off x="7936992" y="3447288"/>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315 km NEDC (TH) / 257 km WLTP (EU)</a:t>
            </a:r>
          </a:p>
        </p:txBody>
      </p:sp>
      <p:sp>
        <p:nvSpPr>
          <p:cNvPr id="34" name="TextBox 33"/>
          <p:cNvSpPr txBox="1"/>
          <p:nvPr/>
        </p:nvSpPr>
        <p:spPr>
          <a:xfrm>
            <a:off x="640080" y="3895344"/>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Charging</a:t>
            </a:r>
          </a:p>
        </p:txBody>
      </p:sp>
      <p:sp>
        <p:nvSpPr>
          <p:cNvPr id="35" name="TextBox 34"/>
          <p:cNvSpPr txBox="1"/>
          <p:nvPr/>
        </p:nvSpPr>
        <p:spPr>
          <a:xfrm>
            <a:off x="2148840" y="3895344"/>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a:t>
            </a:r>
          </a:p>
        </p:txBody>
      </p:sp>
      <p:sp>
        <p:nvSpPr>
          <p:cNvPr id="36" name="TextBox 35"/>
          <p:cNvSpPr txBox="1"/>
          <p:nvPr/>
        </p:nvSpPr>
        <p:spPr>
          <a:xfrm>
            <a:off x="6428232" y="3895344"/>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Charging</a:t>
            </a:r>
          </a:p>
        </p:txBody>
      </p:sp>
      <p:sp>
        <p:nvSpPr>
          <p:cNvPr id="37" name="TextBox 36"/>
          <p:cNvSpPr txBox="1"/>
          <p:nvPr/>
        </p:nvSpPr>
        <p:spPr>
          <a:xfrm>
            <a:off x="7936992" y="3895344"/>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10 kW AC / 125 kW DC fast charge</a:t>
            </a:r>
          </a:p>
        </p:txBody>
      </p:sp>
      <p:sp>
        <p:nvSpPr>
          <p:cNvPr id="38" name="Rectangle 37"/>
          <p:cNvSpPr/>
          <p:nvPr/>
        </p:nvSpPr>
        <p:spPr>
          <a:xfrm>
            <a:off x="457200" y="4343400"/>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45352" y="4343400"/>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343400"/>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Cabin options</a:t>
            </a:r>
          </a:p>
        </p:txBody>
      </p:sp>
      <p:sp>
        <p:nvSpPr>
          <p:cNvPr id="41" name="TextBox 40"/>
          <p:cNvSpPr txBox="1"/>
          <p:nvPr/>
        </p:nvSpPr>
        <p:spPr>
          <a:xfrm>
            <a:off x="2148840" y="4343400"/>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Standard / Smart / Double Cab</a:t>
            </a:r>
          </a:p>
        </p:txBody>
      </p:sp>
      <p:sp>
        <p:nvSpPr>
          <p:cNvPr id="42" name="TextBox 41"/>
          <p:cNvSpPr txBox="1"/>
          <p:nvPr/>
        </p:nvSpPr>
        <p:spPr>
          <a:xfrm>
            <a:off x="6428232" y="4343400"/>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Cabin options</a:t>
            </a:r>
          </a:p>
        </p:txBody>
      </p:sp>
      <p:sp>
        <p:nvSpPr>
          <p:cNvPr id="43" name="TextBox 42"/>
          <p:cNvSpPr txBox="1"/>
          <p:nvPr/>
        </p:nvSpPr>
        <p:spPr>
          <a:xfrm>
            <a:off x="7936992" y="4343400"/>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Double Cab only</a:t>
            </a:r>
          </a:p>
        </p:txBody>
      </p:sp>
      <p:sp>
        <p:nvSpPr>
          <p:cNvPr id="44" name="TextBox 43"/>
          <p:cNvSpPr txBox="1"/>
          <p:nvPr/>
        </p:nvSpPr>
        <p:spPr>
          <a:xfrm>
            <a:off x="640080" y="4791456"/>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Drivetrain</a:t>
            </a:r>
          </a:p>
        </p:txBody>
      </p:sp>
      <p:sp>
        <p:nvSpPr>
          <p:cNvPr id="45" name="TextBox 44"/>
          <p:cNvSpPr txBox="1"/>
          <p:nvPr/>
        </p:nvSpPr>
        <p:spPr>
          <a:xfrm>
            <a:off x="2148840" y="4791456"/>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2WD Prerunner / 4WD 4TREX / Overland</a:t>
            </a:r>
          </a:p>
        </p:txBody>
      </p:sp>
      <p:sp>
        <p:nvSpPr>
          <p:cNvPr id="46" name="TextBox 45"/>
          <p:cNvSpPr txBox="1"/>
          <p:nvPr/>
        </p:nvSpPr>
        <p:spPr>
          <a:xfrm>
            <a:off x="6428232" y="4791456"/>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Drivetrain</a:t>
            </a:r>
          </a:p>
        </p:txBody>
      </p:sp>
      <p:sp>
        <p:nvSpPr>
          <p:cNvPr id="47" name="TextBox 46"/>
          <p:cNvSpPr txBox="1"/>
          <p:nvPr/>
        </p:nvSpPr>
        <p:spPr>
          <a:xfrm>
            <a:off x="7936992" y="4791456"/>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4WD 4TREX only</a:t>
            </a:r>
          </a:p>
        </p:txBody>
      </p:sp>
      <p:sp>
        <p:nvSpPr>
          <p:cNvPr id="48" name="Rectangle 47"/>
          <p:cNvSpPr/>
          <p:nvPr/>
        </p:nvSpPr>
        <p:spPr>
          <a:xfrm>
            <a:off x="457200" y="5239512"/>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45352" y="5239512"/>
            <a:ext cx="548640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239512"/>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Thai launch</a:t>
            </a:r>
          </a:p>
        </p:txBody>
      </p:sp>
      <p:sp>
        <p:nvSpPr>
          <p:cNvPr id="51" name="TextBox 50"/>
          <p:cNvSpPr txBox="1"/>
          <p:nvPr/>
        </p:nvSpPr>
        <p:spPr>
          <a:xfrm>
            <a:off x="2148840" y="5239512"/>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December 2025</a:t>
            </a:r>
          </a:p>
        </p:txBody>
      </p:sp>
      <p:sp>
        <p:nvSpPr>
          <p:cNvPr id="52" name="TextBox 51"/>
          <p:cNvSpPr txBox="1"/>
          <p:nvPr/>
        </p:nvSpPr>
        <p:spPr>
          <a:xfrm>
            <a:off x="6428232" y="5239512"/>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Thai launch</a:t>
            </a:r>
          </a:p>
        </p:txBody>
      </p:sp>
      <p:sp>
        <p:nvSpPr>
          <p:cNvPr id="53" name="TextBox 52"/>
          <p:cNvSpPr txBox="1"/>
          <p:nvPr/>
        </p:nvSpPr>
        <p:spPr>
          <a:xfrm>
            <a:off x="7936992" y="5239512"/>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March 2026 (EU from Apr 2026)</a:t>
            </a:r>
          </a:p>
        </p:txBody>
      </p:sp>
      <p:sp>
        <p:nvSpPr>
          <p:cNvPr id="54" name="TextBox 53"/>
          <p:cNvSpPr txBox="1"/>
          <p:nvPr/>
        </p:nvSpPr>
        <p:spPr>
          <a:xfrm>
            <a:off x="640080" y="5687568"/>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Target buyer</a:t>
            </a:r>
          </a:p>
        </p:txBody>
      </p:sp>
      <p:sp>
        <p:nvSpPr>
          <p:cNvPr id="55" name="TextBox 54"/>
          <p:cNvSpPr txBox="1"/>
          <p:nvPr/>
        </p:nvSpPr>
        <p:spPr>
          <a:xfrm>
            <a:off x="2148840" y="5687568"/>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333A45"/>
                </a:solidFill>
                <a:latin typeface="Calibri"/>
              </a:rPr>
              <a:t>Long-distance &amp; traditional off-roaders</a:t>
            </a:r>
          </a:p>
        </p:txBody>
      </p:sp>
      <p:sp>
        <p:nvSpPr>
          <p:cNvPr id="56" name="TextBox 55"/>
          <p:cNvSpPr txBox="1"/>
          <p:nvPr/>
        </p:nvSpPr>
        <p:spPr>
          <a:xfrm>
            <a:off x="6428232" y="5687568"/>
            <a:ext cx="1554480" cy="448056"/>
          </a:xfrm>
          <a:prstGeom prst="rect">
            <a:avLst/>
          </a:prstGeom>
          <a:noFill/>
        </p:spPr>
        <p:txBody>
          <a:bodyPr wrap="square" anchor="ctr" lIns="0" rIns="0" tIns="0" bIns="0">
            <a:spAutoFit/>
          </a:bodyPr>
          <a:lstStyle/>
          <a:p>
            <a:pPr algn="l">
              <a:lnSpc>
                <a:spcPct val="95000"/>
              </a:lnSpc>
              <a:spcBef>
                <a:spcPts val="0"/>
              </a:spcBef>
              <a:spcAft>
                <a:spcPts val="0"/>
              </a:spcAft>
            </a:pPr>
            <a:r>
              <a:rPr sz="950" b="1">
                <a:solidFill>
                  <a:srgbClr val="6B7280"/>
                </a:solidFill>
                <a:latin typeface="Calibri"/>
              </a:rPr>
              <a:t>Target buyer</a:t>
            </a:r>
          </a:p>
        </p:txBody>
      </p:sp>
      <p:sp>
        <p:nvSpPr>
          <p:cNvPr id="57" name="TextBox 56"/>
          <p:cNvSpPr txBox="1"/>
          <p:nvPr/>
        </p:nvSpPr>
        <p:spPr>
          <a:xfrm>
            <a:off x="7936992" y="5687568"/>
            <a:ext cx="3657600" cy="448056"/>
          </a:xfrm>
          <a:prstGeom prst="rect">
            <a:avLst/>
          </a:prstGeom>
          <a:noFill/>
        </p:spPr>
        <p:txBody>
          <a:bodyPr wrap="square" anchor="ctr" lIns="0" rIns="0" tIns="0" bIns="0">
            <a:spAutoFit/>
          </a:bodyPr>
          <a:lstStyle/>
          <a:p>
            <a:pPr algn="l">
              <a:lnSpc>
                <a:spcPct val="95000"/>
              </a:lnSpc>
              <a:spcBef>
                <a:spcPts val="0"/>
              </a:spcBef>
              <a:spcAft>
                <a:spcPts val="0"/>
              </a:spcAft>
            </a:pPr>
            <a:r>
              <a:rPr sz="1050" b="0">
                <a:solidFill>
                  <a:srgbClr val="1A1A1A"/>
                </a:solidFill>
                <a:latin typeface="Calibri"/>
              </a:rPr>
              <a:t>Eco-conscious urban &amp; EU fleets</a:t>
            </a:r>
          </a:p>
        </p:txBody>
      </p:sp>
      <p:sp>
        <p:nvSpPr>
          <p:cNvPr id="58" name="Rectangle 57"/>
          <p:cNvSpPr/>
          <p:nvPr/>
        </p:nvSpPr>
        <p:spPr>
          <a:xfrm>
            <a:off x="0" y="6565392"/>
            <a:ext cx="12191695" cy="2926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6574536"/>
            <a:ext cx="8229600" cy="274320"/>
          </a:xfrm>
          <a:prstGeom prst="rect">
            <a:avLst/>
          </a:prstGeom>
          <a:noFill/>
        </p:spPr>
        <p:txBody>
          <a:bodyPr wrap="square" anchor="ctr" lIns="0" rIns="0" tIns="0" bIns="0">
            <a:spAutoFit/>
          </a:bodyPr>
          <a:lstStyle/>
          <a:p>
            <a:pPr algn="l">
              <a:lnSpc>
                <a:spcPct val="100000"/>
              </a:lnSpc>
              <a:spcBef>
                <a:spcPts val="0"/>
              </a:spcBef>
              <a:spcAft>
                <a:spcPts val="400"/>
              </a:spcAft>
            </a:pPr>
            <a:r>
              <a:rPr sz="800" b="0">
                <a:solidFill>
                  <a:srgbClr val="FFFFFF"/>
                </a:solidFill>
                <a:latin typeface="Calibri"/>
              </a:rPr>
              <a:t>Source: MarkLines Automotive Sales Data  |  Toyota Hilux 'Travo' Brief</a:t>
            </a:r>
          </a:p>
        </p:txBody>
      </p:sp>
      <p:sp>
        <p:nvSpPr>
          <p:cNvPr id="60" name="TextBox 59"/>
          <p:cNvSpPr txBox="1"/>
          <p:nvPr/>
        </p:nvSpPr>
        <p:spPr>
          <a:xfrm>
            <a:off x="10820095" y="6574536"/>
            <a:ext cx="914400" cy="274320"/>
          </a:xfrm>
          <a:prstGeom prst="rect">
            <a:avLst/>
          </a:prstGeom>
          <a:noFill/>
        </p:spPr>
        <p:txBody>
          <a:bodyPr wrap="square" anchor="ctr" lIns="0" rIns="0" tIns="0" bIns="0">
            <a:spAutoFit/>
          </a:bodyPr>
          <a:lstStyle/>
          <a:p>
            <a:pPr algn="r">
              <a:lnSpc>
                <a:spcPct val="100000"/>
              </a:lnSpc>
              <a:spcBef>
                <a:spcPts val="0"/>
              </a:spcBef>
              <a:spcAft>
                <a:spcPts val="400"/>
              </a:spcAft>
            </a:pPr>
            <a:r>
              <a:rPr sz="800" b="1">
                <a:solidFill>
                  <a:srgbClr val="FFFFFF"/>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1051560"/>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12471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EB0A1E"/>
                </a:solidFill>
                <a:latin typeface="Calibri"/>
              </a:rPr>
              <a:t>POSITIONING &amp; SALES SIGNAL</a:t>
            </a:r>
          </a:p>
        </p:txBody>
      </p:sp>
      <p:sp>
        <p:nvSpPr>
          <p:cNvPr id="6" name="TextBox 5"/>
          <p:cNvSpPr txBox="1"/>
          <p:nvPr/>
        </p:nvSpPr>
        <p:spPr>
          <a:xfrm>
            <a:off x="457200" y="420624"/>
            <a:ext cx="11247120" cy="548640"/>
          </a:xfrm>
          <a:prstGeom prst="rect">
            <a:avLst/>
          </a:prstGeom>
          <a:noFill/>
        </p:spPr>
        <p:txBody>
          <a:bodyPr wrap="square" anchor="t" lIns="0" rIns="0" tIns="0" bIns="0">
            <a:spAutoFit/>
          </a:bodyPr>
          <a:lstStyle/>
          <a:p>
            <a:pPr algn="l">
              <a:lnSpc>
                <a:spcPct val="100000"/>
              </a:lnSpc>
              <a:spcBef>
                <a:spcPts val="0"/>
              </a:spcBef>
              <a:spcAft>
                <a:spcPts val="400"/>
              </a:spcAft>
            </a:pPr>
            <a:r>
              <a:rPr sz="2600" b="1">
                <a:solidFill>
                  <a:srgbClr val="1A1A1A"/>
                </a:solidFill>
                <a:latin typeface="Calibri"/>
              </a:rPr>
              <a:t>Strategy, Production Footprint &amp; Market Read</a:t>
            </a:r>
          </a:p>
        </p:txBody>
      </p:sp>
      <p:sp>
        <p:nvSpPr>
          <p:cNvPr id="7" name="Rectangle 6"/>
          <p:cNvSpPr/>
          <p:nvPr/>
        </p:nvSpPr>
        <p:spPr>
          <a:xfrm>
            <a:off x="457200" y="987552"/>
            <a:ext cx="11274552" cy="1905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EB0A1E"/>
                </a:solidFill>
                <a:latin typeface="Calibri"/>
              </a:rPr>
              <a:t>LINEUP SEGMENTATION (no cannibalisation)</a:t>
            </a:r>
          </a:p>
        </p:txBody>
      </p:sp>
      <p:sp>
        <p:nvSpPr>
          <p:cNvPr id="9" name="Rectangle 8"/>
          <p:cNvSpPr/>
          <p:nvPr/>
        </p:nvSpPr>
        <p:spPr>
          <a:xfrm>
            <a:off x="457200" y="1572768"/>
            <a:ext cx="5486400" cy="585216"/>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72768"/>
            <a:ext cx="82296" cy="58521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18488"/>
            <a:ext cx="5120640" cy="502920"/>
          </a:xfrm>
          <a:prstGeom prst="rect">
            <a:avLst/>
          </a:prstGeom>
          <a:noFill/>
        </p:spPr>
        <p:txBody>
          <a:bodyPr wrap="square" anchor="ctr" lIns="0" rIns="0" tIns="0" bIns="0">
            <a:spAutoFit/>
          </a:bodyPr>
          <a:lstStyle/>
          <a:p>
            <a:pPr algn="l">
              <a:lnSpc>
                <a:spcPct val="95000"/>
              </a:lnSpc>
              <a:spcBef>
                <a:spcPts val="0"/>
              </a:spcBef>
              <a:spcAft>
                <a:spcPts val="100"/>
              </a:spcAft>
            </a:pPr>
            <a:r>
              <a:rPr sz="1250" b="1">
                <a:solidFill>
                  <a:srgbClr val="1A1A1A"/>
                </a:solidFill>
                <a:latin typeface="Calibri"/>
              </a:rPr>
              <a:t>Hilux REVO</a:t>
            </a:r>
          </a:p>
          <a:p>
            <a:pPr algn="l">
              <a:lnSpc>
                <a:spcPct val="95000"/>
              </a:lnSpc>
              <a:spcBef>
                <a:spcPts val="0"/>
              </a:spcBef>
              <a:spcAft>
                <a:spcPts val="100"/>
              </a:spcAft>
            </a:pPr>
            <a:r>
              <a:rPr sz="1000" b="0">
                <a:solidFill>
                  <a:srgbClr val="333A45"/>
                </a:solidFill>
                <a:latin typeface="Calibri"/>
              </a:rPr>
              <a:t>Commercial / B2B fleet</a:t>
            </a:r>
          </a:p>
        </p:txBody>
      </p:sp>
      <p:sp>
        <p:nvSpPr>
          <p:cNvPr id="12" name="Rectangle 11"/>
          <p:cNvSpPr/>
          <p:nvPr/>
        </p:nvSpPr>
        <p:spPr>
          <a:xfrm>
            <a:off x="457200" y="2249424"/>
            <a:ext cx="5486400" cy="585216"/>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49424"/>
            <a:ext cx="82296" cy="58521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295144"/>
            <a:ext cx="5120640" cy="502920"/>
          </a:xfrm>
          <a:prstGeom prst="rect">
            <a:avLst/>
          </a:prstGeom>
          <a:noFill/>
        </p:spPr>
        <p:txBody>
          <a:bodyPr wrap="square" anchor="ctr" lIns="0" rIns="0" tIns="0" bIns="0">
            <a:spAutoFit/>
          </a:bodyPr>
          <a:lstStyle/>
          <a:p>
            <a:pPr algn="l">
              <a:lnSpc>
                <a:spcPct val="95000"/>
              </a:lnSpc>
              <a:spcBef>
                <a:spcPts val="0"/>
              </a:spcBef>
              <a:spcAft>
                <a:spcPts val="100"/>
              </a:spcAft>
            </a:pPr>
            <a:r>
              <a:rPr sz="1250" b="1">
                <a:solidFill>
                  <a:srgbClr val="1A1A1A"/>
                </a:solidFill>
                <a:latin typeface="Calibri"/>
              </a:rPr>
              <a:t>Hilux CHAMP</a:t>
            </a:r>
          </a:p>
          <a:p>
            <a:pPr algn="l">
              <a:lnSpc>
                <a:spcPct val="95000"/>
              </a:lnSpc>
              <a:spcBef>
                <a:spcPts val="0"/>
              </a:spcBef>
              <a:spcAft>
                <a:spcPts val="100"/>
              </a:spcAft>
            </a:pPr>
            <a:r>
              <a:rPr sz="1000" b="0">
                <a:solidFill>
                  <a:srgbClr val="333A45"/>
                </a:solidFill>
                <a:latin typeface="Calibri"/>
              </a:rPr>
              <a:t>Low-cost, customisable conversions</a:t>
            </a:r>
          </a:p>
        </p:txBody>
      </p:sp>
      <p:sp>
        <p:nvSpPr>
          <p:cNvPr id="15" name="Rectangle 14"/>
          <p:cNvSpPr/>
          <p:nvPr/>
        </p:nvSpPr>
        <p:spPr>
          <a:xfrm>
            <a:off x="457200" y="2926080"/>
            <a:ext cx="5486400" cy="585216"/>
          </a:xfrm>
          <a:prstGeom prst="rect">
            <a:avLst/>
          </a:prstGeom>
          <a:solidFill>
            <a:srgbClr val="FB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926080"/>
            <a:ext cx="82296" cy="585216"/>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971800"/>
            <a:ext cx="5120640" cy="502920"/>
          </a:xfrm>
          <a:prstGeom prst="rect">
            <a:avLst/>
          </a:prstGeom>
          <a:noFill/>
        </p:spPr>
        <p:txBody>
          <a:bodyPr wrap="square" anchor="ctr" lIns="0" rIns="0" tIns="0" bIns="0">
            <a:spAutoFit/>
          </a:bodyPr>
          <a:lstStyle/>
          <a:p>
            <a:pPr algn="l">
              <a:lnSpc>
                <a:spcPct val="95000"/>
              </a:lnSpc>
              <a:spcBef>
                <a:spcPts val="0"/>
              </a:spcBef>
              <a:spcAft>
                <a:spcPts val="100"/>
              </a:spcAft>
            </a:pPr>
            <a:r>
              <a:rPr sz="1250" b="1">
                <a:solidFill>
                  <a:srgbClr val="1A1A1A"/>
                </a:solidFill>
                <a:latin typeface="Calibri"/>
              </a:rPr>
              <a:t>Hilux TRAVO / TRAVO-e</a:t>
            </a:r>
          </a:p>
          <a:p>
            <a:pPr algn="l">
              <a:lnSpc>
                <a:spcPct val="95000"/>
              </a:lnSpc>
              <a:spcBef>
                <a:spcPts val="0"/>
              </a:spcBef>
              <a:spcAft>
                <a:spcPts val="100"/>
              </a:spcAft>
            </a:pPr>
            <a:r>
              <a:rPr sz="1000" b="0">
                <a:solidFill>
                  <a:srgbClr val="333A45"/>
                </a:solidFill>
                <a:latin typeface="Calibri"/>
              </a:rPr>
              <a:t>Premium lifestyle, off-road &amp; urban — high-margin retail</a:t>
            </a:r>
          </a:p>
        </p:txBody>
      </p:sp>
      <p:sp>
        <p:nvSpPr>
          <p:cNvPr id="18" name="TextBox 17"/>
          <p:cNvSpPr txBox="1"/>
          <p:nvPr/>
        </p:nvSpPr>
        <p:spPr>
          <a:xfrm>
            <a:off x="457200" y="3794760"/>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EB0A1E"/>
                </a:solidFill>
                <a:latin typeface="Calibri"/>
              </a:rPr>
              <a:t>PRODUCTION FOOTPRINT</a:t>
            </a:r>
          </a:p>
        </p:txBody>
      </p:sp>
      <p:sp>
        <p:nvSpPr>
          <p:cNvPr id="19" name="Rectangle 18"/>
          <p:cNvSpPr/>
          <p:nvPr/>
        </p:nvSpPr>
        <p:spPr>
          <a:xfrm>
            <a:off x="457200" y="4114800"/>
            <a:ext cx="5486400" cy="20574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79392"/>
            <a:ext cx="5029200" cy="1828800"/>
          </a:xfrm>
          <a:prstGeom prst="rect">
            <a:avLst/>
          </a:prstGeom>
          <a:noFill/>
        </p:spPr>
        <p:txBody>
          <a:bodyPr wrap="square" anchor="t" lIns="0" rIns="0" tIns="0" bIns="0">
            <a:spAutoFit/>
          </a:bodyPr>
          <a:lstStyle/>
          <a:p>
            <a:pPr algn="l">
              <a:lnSpc>
                <a:spcPct val="100000"/>
              </a:lnSpc>
              <a:spcBef>
                <a:spcPts val="0"/>
              </a:spcBef>
              <a:spcAft>
                <a:spcPts val="600"/>
              </a:spcAft>
            </a:pPr>
            <a:r>
              <a:rPr sz="1300" b="1">
                <a:solidFill>
                  <a:srgbClr val="1A1A1A"/>
                </a:solidFill>
                <a:latin typeface="Calibri"/>
              </a:rPr>
              <a:t>Ban Pho Plant</a:t>
            </a:r>
            <a:r>
              <a:rPr sz="1100" b="0">
                <a:solidFill>
                  <a:srgbClr val="6B7280"/>
                </a:solidFill>
                <a:latin typeface="Calibri"/>
              </a:rPr>
              <a:t>  – Chachoengsao, Thailand</a:t>
            </a:r>
          </a:p>
          <a:p>
            <a:pPr algn="l">
              <a:lnSpc>
                <a:spcPct val="100000"/>
              </a:lnSpc>
              <a:spcBef>
                <a:spcPts val="0"/>
              </a:spcBef>
              <a:spcAft>
                <a:spcPts val="600"/>
              </a:spcAft>
            </a:pPr>
            <a:r>
              <a:rPr sz="1100" b="0">
                <a:solidFill>
                  <a:srgbClr val="333A45"/>
                </a:solidFill>
                <a:latin typeface="Calibri"/>
              </a:rPr>
              <a:t>▪  Builds both Travo &amp; Travo-e on the New IMV platform</a:t>
            </a:r>
          </a:p>
          <a:p>
            <a:pPr algn="l">
              <a:lnSpc>
                <a:spcPct val="100000"/>
              </a:lnSpc>
              <a:spcBef>
                <a:spcPts val="0"/>
              </a:spcBef>
              <a:spcAft>
                <a:spcPts val="600"/>
              </a:spcAft>
            </a:pPr>
            <a:r>
              <a:rPr sz="1100" b="0">
                <a:solidFill>
                  <a:srgbClr val="333A45"/>
                </a:solidFill>
                <a:latin typeface="Calibri"/>
              </a:rPr>
              <a:t>▪  Annual capacity: </a:t>
            </a:r>
            <a:r>
              <a:rPr sz="1100" b="1">
                <a:solidFill>
                  <a:srgbClr val="1A1A1A"/>
                </a:solidFill>
                <a:latin typeface="Calibri"/>
              </a:rPr>
              <a:t>220,000 units</a:t>
            </a:r>
            <a:r>
              <a:rPr sz="1100" b="0">
                <a:solidFill>
                  <a:srgbClr val="333A45"/>
                </a:solidFill>
                <a:latin typeface="Calibri"/>
              </a:rPr>
              <a:t> (of TMT's 760,000)</a:t>
            </a:r>
          </a:p>
          <a:p>
            <a:pPr algn="l">
              <a:lnSpc>
                <a:spcPct val="100000"/>
              </a:lnSpc>
              <a:spcBef>
                <a:spcPts val="0"/>
              </a:spcBef>
              <a:spcAft>
                <a:spcPts val="600"/>
              </a:spcAft>
            </a:pPr>
            <a:r>
              <a:rPr sz="1100" b="0">
                <a:solidFill>
                  <a:srgbClr val="333A45"/>
                </a:solidFill>
                <a:latin typeface="Calibri"/>
              </a:rPr>
              <a:t>▪  Local content: </a:t>
            </a:r>
            <a:r>
              <a:rPr sz="1100" b="1">
                <a:solidFill>
                  <a:srgbClr val="1A1A1A"/>
                </a:solidFill>
                <a:latin typeface="Calibri"/>
              </a:rPr>
              <a:t>95%</a:t>
            </a:r>
            <a:r>
              <a:rPr sz="1100" b="0">
                <a:solidFill>
                  <a:srgbClr val="333A45"/>
                </a:solidFill>
                <a:latin typeface="Calibri"/>
              </a:rPr>
              <a:t> — resilient supply chain</a:t>
            </a:r>
          </a:p>
          <a:p>
            <a:pPr algn="l">
              <a:lnSpc>
                <a:spcPct val="100000"/>
              </a:lnSpc>
              <a:spcBef>
                <a:spcPts val="0"/>
              </a:spcBef>
              <a:spcAft>
                <a:spcPts val="600"/>
              </a:spcAft>
            </a:pPr>
            <a:r>
              <a:rPr sz="1100" b="0">
                <a:solidFill>
                  <a:srgbClr val="333A45"/>
                </a:solidFill>
                <a:latin typeface="Calibri"/>
              </a:rPr>
              <a:t>▪  Travo-e base price: </a:t>
            </a:r>
            <a:r>
              <a:rPr sz="1100" b="1">
                <a:solidFill>
                  <a:srgbClr val="1A1A1A"/>
                </a:solidFill>
                <a:latin typeface="Calibri"/>
              </a:rPr>
              <a:t>THB 1,491,000</a:t>
            </a:r>
          </a:p>
        </p:txBody>
      </p:sp>
      <p:sp>
        <p:nvSpPr>
          <p:cNvPr id="21" name="TextBox 20"/>
          <p:cNvSpPr txBox="1"/>
          <p:nvPr/>
        </p:nvSpPr>
        <p:spPr>
          <a:xfrm>
            <a:off x="6245352" y="1234440"/>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EB0A1E"/>
                </a:solidFill>
                <a:latin typeface="Calibri"/>
              </a:rPr>
              <a:t>MARKET READ — HILUX (TRAVO REPORTED INSIDE)</a:t>
            </a:r>
          </a:p>
        </p:txBody>
      </p:sp>
      <p:sp>
        <p:nvSpPr>
          <p:cNvPr id="22" name="Rectangle 21"/>
          <p:cNvSpPr/>
          <p:nvPr/>
        </p:nvSpPr>
        <p:spPr>
          <a:xfrm>
            <a:off x="6245352" y="1572768"/>
            <a:ext cx="5486400" cy="786384"/>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5352" y="1572768"/>
            <a:ext cx="1737360" cy="786384"/>
          </a:xfrm>
          <a:prstGeom prst="rect">
            <a:avLst/>
          </a:prstGeom>
          <a:solidFill>
            <a:srgbClr val="0F8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2" y="1572768"/>
            <a:ext cx="1737360"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200" b="1">
                <a:solidFill>
                  <a:srgbClr val="FFFFFF"/>
                </a:solidFill>
                <a:latin typeface="Calibri"/>
              </a:rPr>
              <a:t>7,147</a:t>
            </a:r>
          </a:p>
        </p:txBody>
      </p:sp>
      <p:sp>
        <p:nvSpPr>
          <p:cNvPr id="25" name="TextBox 24"/>
          <p:cNvSpPr txBox="1"/>
          <p:nvPr/>
        </p:nvSpPr>
        <p:spPr>
          <a:xfrm>
            <a:off x="8165592" y="1572768"/>
            <a:ext cx="3383280" cy="786384"/>
          </a:xfrm>
          <a:prstGeom prst="rect">
            <a:avLst/>
          </a:prstGeom>
          <a:noFill/>
        </p:spPr>
        <p:txBody>
          <a:bodyPr wrap="square" anchor="ctr" lIns="0" rIns="0" tIns="0" bIns="0">
            <a:spAutoFit/>
          </a:bodyPr>
          <a:lstStyle/>
          <a:p>
            <a:pPr algn="l">
              <a:lnSpc>
                <a:spcPct val="95000"/>
              </a:lnSpc>
              <a:spcBef>
                <a:spcPts val="0"/>
              </a:spcBef>
              <a:spcAft>
                <a:spcPts val="400"/>
              </a:spcAft>
            </a:pPr>
            <a:r>
              <a:rPr sz="1150" b="0">
                <a:solidFill>
                  <a:srgbClr val="333A45"/>
                </a:solidFill>
                <a:latin typeface="Calibri"/>
              </a:rPr>
              <a:t>Hilux units, Thailand – Mar 2026 (12-mo high)</a:t>
            </a:r>
          </a:p>
        </p:txBody>
      </p:sp>
      <p:sp>
        <p:nvSpPr>
          <p:cNvPr id="26" name="Rectangle 25"/>
          <p:cNvSpPr/>
          <p:nvPr/>
        </p:nvSpPr>
        <p:spPr>
          <a:xfrm>
            <a:off x="6245352" y="2404872"/>
            <a:ext cx="5486400" cy="786384"/>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45352" y="2404872"/>
            <a:ext cx="1737360" cy="78638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5352" y="2404872"/>
            <a:ext cx="1737360"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200" b="1">
                <a:solidFill>
                  <a:srgbClr val="FFFFFF"/>
                </a:solidFill>
                <a:latin typeface="Calibri"/>
              </a:rPr>
              <a:t>82,000</a:t>
            </a:r>
          </a:p>
        </p:txBody>
      </p:sp>
      <p:sp>
        <p:nvSpPr>
          <p:cNvPr id="29" name="TextBox 28"/>
          <p:cNvSpPr txBox="1"/>
          <p:nvPr/>
        </p:nvSpPr>
        <p:spPr>
          <a:xfrm>
            <a:off x="8165592" y="2404872"/>
            <a:ext cx="3383280" cy="786384"/>
          </a:xfrm>
          <a:prstGeom prst="rect">
            <a:avLst/>
          </a:prstGeom>
          <a:noFill/>
        </p:spPr>
        <p:txBody>
          <a:bodyPr wrap="square" anchor="ctr" lIns="0" rIns="0" tIns="0" bIns="0">
            <a:spAutoFit/>
          </a:bodyPr>
          <a:lstStyle/>
          <a:p>
            <a:pPr algn="l">
              <a:lnSpc>
                <a:spcPct val="95000"/>
              </a:lnSpc>
              <a:spcBef>
                <a:spcPts val="0"/>
              </a:spcBef>
              <a:spcAft>
                <a:spcPts val="400"/>
              </a:spcAft>
            </a:pPr>
            <a:r>
              <a:rPr sz="1150" b="0">
                <a:solidFill>
                  <a:srgbClr val="333A45"/>
                </a:solidFill>
                <a:latin typeface="Calibri"/>
              </a:rPr>
              <a:t>Toyota 1-ton pickup target, Thailand 2026 (+17%)</a:t>
            </a:r>
          </a:p>
        </p:txBody>
      </p:sp>
      <p:sp>
        <p:nvSpPr>
          <p:cNvPr id="30" name="Rectangle 29"/>
          <p:cNvSpPr/>
          <p:nvPr/>
        </p:nvSpPr>
        <p:spPr>
          <a:xfrm>
            <a:off x="6245352" y="3236976"/>
            <a:ext cx="5486400" cy="786384"/>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5352" y="3236976"/>
            <a:ext cx="1737360" cy="7863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5352" y="3236976"/>
            <a:ext cx="1737360"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200" b="1">
                <a:solidFill>
                  <a:srgbClr val="FFFFFF"/>
                </a:solidFill>
                <a:latin typeface="Calibri"/>
              </a:rPr>
              <a:t>11,615</a:t>
            </a:r>
          </a:p>
        </p:txBody>
      </p:sp>
      <p:sp>
        <p:nvSpPr>
          <p:cNvPr id="33" name="TextBox 32"/>
          <p:cNvSpPr txBox="1"/>
          <p:nvPr/>
        </p:nvSpPr>
        <p:spPr>
          <a:xfrm>
            <a:off x="8165592" y="3236976"/>
            <a:ext cx="3383280" cy="786384"/>
          </a:xfrm>
          <a:prstGeom prst="rect">
            <a:avLst/>
          </a:prstGeom>
          <a:noFill/>
        </p:spPr>
        <p:txBody>
          <a:bodyPr wrap="square" anchor="ctr" lIns="0" rIns="0" tIns="0" bIns="0">
            <a:spAutoFit/>
          </a:bodyPr>
          <a:lstStyle/>
          <a:p>
            <a:pPr algn="l">
              <a:lnSpc>
                <a:spcPct val="95000"/>
              </a:lnSpc>
              <a:spcBef>
                <a:spcPts val="0"/>
              </a:spcBef>
              <a:spcAft>
                <a:spcPts val="400"/>
              </a:spcAft>
            </a:pPr>
            <a:r>
              <a:rPr sz="1150" b="0">
                <a:solidFill>
                  <a:srgbClr val="333A45"/>
                </a:solidFill>
                <a:latin typeface="Calibri"/>
              </a:rPr>
              <a:t>Hilux units in Europe, Q1 2026 (+7% YoY)</a:t>
            </a:r>
          </a:p>
        </p:txBody>
      </p:sp>
      <p:sp>
        <p:nvSpPr>
          <p:cNvPr id="34" name="Rectangle 33"/>
          <p:cNvSpPr/>
          <p:nvPr/>
        </p:nvSpPr>
        <p:spPr>
          <a:xfrm>
            <a:off x="6245352" y="4069080"/>
            <a:ext cx="5486400" cy="786384"/>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45352" y="4069080"/>
            <a:ext cx="1737360" cy="786384"/>
          </a:xfrm>
          <a:prstGeom prst="rect">
            <a:avLst/>
          </a:prstGeom>
          <a:solidFill>
            <a:srgbClr val="EB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45352" y="4069080"/>
            <a:ext cx="1737360"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200" b="1">
                <a:solidFill>
                  <a:srgbClr val="FFFFFF"/>
                </a:solidFill>
                <a:latin typeface="Calibri"/>
              </a:rPr>
              <a:t>+79%</a:t>
            </a:r>
          </a:p>
        </p:txBody>
      </p:sp>
      <p:sp>
        <p:nvSpPr>
          <p:cNvPr id="37" name="TextBox 36"/>
          <p:cNvSpPr txBox="1"/>
          <p:nvPr/>
        </p:nvSpPr>
        <p:spPr>
          <a:xfrm>
            <a:off x="8165592" y="4069080"/>
            <a:ext cx="3383280" cy="786384"/>
          </a:xfrm>
          <a:prstGeom prst="rect">
            <a:avLst/>
          </a:prstGeom>
          <a:noFill/>
        </p:spPr>
        <p:txBody>
          <a:bodyPr wrap="square" anchor="ctr" lIns="0" rIns="0" tIns="0" bIns="0">
            <a:spAutoFit/>
          </a:bodyPr>
          <a:lstStyle/>
          <a:p>
            <a:pPr algn="l">
              <a:lnSpc>
                <a:spcPct val="95000"/>
              </a:lnSpc>
              <a:spcBef>
                <a:spcPts val="0"/>
              </a:spcBef>
              <a:spcAft>
                <a:spcPts val="400"/>
              </a:spcAft>
            </a:pPr>
            <a:r>
              <a:rPr sz="1150" b="0">
                <a:solidFill>
                  <a:srgbClr val="333A45"/>
                </a:solidFill>
                <a:latin typeface="Calibri"/>
              </a:rPr>
              <a:t>Toyota Europe BEV sales, Q1 2026 YoY</a:t>
            </a:r>
          </a:p>
        </p:txBody>
      </p:sp>
      <p:sp>
        <p:nvSpPr>
          <p:cNvPr id="38" name="Rectangle 37"/>
          <p:cNvSpPr/>
          <p:nvPr/>
        </p:nvSpPr>
        <p:spPr>
          <a:xfrm>
            <a:off x="6245352" y="5074920"/>
            <a:ext cx="5486400" cy="10972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5212080"/>
            <a:ext cx="5029200" cy="868680"/>
          </a:xfrm>
          <a:prstGeom prst="rect">
            <a:avLst/>
          </a:prstGeom>
          <a:noFill/>
        </p:spPr>
        <p:txBody>
          <a:bodyPr wrap="square" anchor="t" lIns="0" rIns="0" tIns="0" bIns="0">
            <a:spAutoFit/>
          </a:bodyPr>
          <a:lstStyle/>
          <a:p>
            <a:pPr algn="l">
              <a:lnSpc>
                <a:spcPct val="102000"/>
              </a:lnSpc>
              <a:spcBef>
                <a:spcPts val="0"/>
              </a:spcBef>
              <a:spcAft>
                <a:spcPts val="300"/>
              </a:spcAft>
            </a:pPr>
            <a:r>
              <a:rPr sz="1000" b="1">
                <a:solidFill>
                  <a:srgbClr val="EB0A1E"/>
                </a:solidFill>
                <a:latin typeface="Calibri"/>
              </a:rPr>
              <a:t>TAKEAWAY</a:t>
            </a:r>
          </a:p>
          <a:p>
            <a:pPr algn="l">
              <a:lnSpc>
                <a:spcPct val="102000"/>
              </a:lnSpc>
              <a:spcBef>
                <a:spcPts val="0"/>
              </a:spcBef>
              <a:spcAft>
                <a:spcPts val="300"/>
              </a:spcAft>
            </a:pPr>
            <a:r>
              <a:rPr sz="1100" b="0">
                <a:solidFill>
                  <a:srgbClr val="FFFFFF"/>
                </a:solidFill>
                <a:latin typeface="Calibri"/>
              </a:rPr>
              <a:t>Travo-specific volumes are not yet broken out in MarkLines, but rising Hilux demand in Thailand and Europe plus an aggressive Ban Pho ramp position Toyota to defend pickup share through the diesel-plus-BEV split.</a:t>
            </a:r>
          </a:p>
        </p:txBody>
      </p:sp>
      <p:sp>
        <p:nvSpPr>
          <p:cNvPr id="40" name="Rectangle 39"/>
          <p:cNvSpPr/>
          <p:nvPr/>
        </p:nvSpPr>
        <p:spPr>
          <a:xfrm>
            <a:off x="0" y="6565392"/>
            <a:ext cx="12191695" cy="2926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574536"/>
            <a:ext cx="8229600" cy="274320"/>
          </a:xfrm>
          <a:prstGeom prst="rect">
            <a:avLst/>
          </a:prstGeom>
          <a:noFill/>
        </p:spPr>
        <p:txBody>
          <a:bodyPr wrap="square" anchor="ctr" lIns="0" rIns="0" tIns="0" bIns="0">
            <a:spAutoFit/>
          </a:bodyPr>
          <a:lstStyle/>
          <a:p>
            <a:pPr algn="l">
              <a:lnSpc>
                <a:spcPct val="100000"/>
              </a:lnSpc>
              <a:spcBef>
                <a:spcPts val="0"/>
              </a:spcBef>
              <a:spcAft>
                <a:spcPts val="400"/>
              </a:spcAft>
            </a:pPr>
            <a:r>
              <a:rPr sz="800" b="0">
                <a:solidFill>
                  <a:srgbClr val="FFFFFF"/>
                </a:solidFill>
                <a:latin typeface="Calibri"/>
              </a:rPr>
              <a:t>Source: MarkLines Automotive Sales Data  |  Toyota Hilux 'Travo' Brief</a:t>
            </a:r>
          </a:p>
        </p:txBody>
      </p:sp>
      <p:sp>
        <p:nvSpPr>
          <p:cNvPr id="42" name="TextBox 41"/>
          <p:cNvSpPr txBox="1"/>
          <p:nvPr/>
        </p:nvSpPr>
        <p:spPr>
          <a:xfrm>
            <a:off x="10820095" y="6574536"/>
            <a:ext cx="914400" cy="274320"/>
          </a:xfrm>
          <a:prstGeom prst="rect">
            <a:avLst/>
          </a:prstGeom>
          <a:noFill/>
        </p:spPr>
        <p:txBody>
          <a:bodyPr wrap="square" anchor="ctr" lIns="0" rIns="0" tIns="0" bIns="0">
            <a:spAutoFit/>
          </a:bodyPr>
          <a:lstStyle/>
          <a:p>
            <a:pPr algn="r">
              <a:lnSpc>
                <a:spcPct val="100000"/>
              </a:lnSpc>
              <a:spcBef>
                <a:spcPts val="0"/>
              </a:spcBef>
              <a:spcAft>
                <a:spcPts val="400"/>
              </a:spcAft>
            </a:pPr>
            <a:r>
              <a:rPr sz="800" b="1">
                <a:solidFill>
                  <a:srgbClr val="FFFFFF"/>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